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693908" cy="15137892"/>
  <p:notesSz cx="15137892" cy="1069390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693908" cy="1920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20040"/>
            <a:ext cx="12801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28600"/>
            <a:ext cx="84079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Management System (RaktaSetu)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6  |  Section: 7  |  Members: Pakalapati Harini – 2520030177, Pakkiru Sai Harshith Reddy – 2520030375, Kairav Vashi – 2520030582  |  Guide: Dr. Spandana. S</a:t>
            </a:r>
            <a:endParaRPr lang="en-US" sz="3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  |  KLH Bachupally Campus, CSE  |  PBL 2026-27</a:t>
            </a:r>
            <a:endParaRPr lang="en-US" sz="3350" dirty="0"/>
          </a:p>
        </p:txBody>
      </p:sp>
      <p:sp>
        <p:nvSpPr>
          <p:cNvPr id="6" name="Shape 4"/>
          <p:cNvSpPr/>
          <p:nvPr/>
        </p:nvSpPr>
        <p:spPr>
          <a:xfrm>
            <a:off x="365760" y="2103120"/>
            <a:ext cx="4844034" cy="1645920"/>
          </a:xfrm>
          <a:prstGeom prst="roundRect">
            <a:avLst>
              <a:gd name="adj" fmla="val 4167"/>
            </a:avLst>
          </a:prstGeom>
          <a:solidFill>
            <a:srgbClr val="FEF3C7"/>
          </a:solidFill>
          <a:ln w="9525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60320"/>
            <a:ext cx="45697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RaktaSetu is a web-based blood management system for donors, hospitals and admins. One MySQL database holds donors, stock batches, requests, camps, cross-match records and alerts, exposed through a JWT-secured Express API to a React front end.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faster requests, less wastage via expiry-first dispatch, early shortage warnings.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388620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FCE7F3"/>
          </a:solidFill>
          <a:ln w="9525">
            <a:solidFill>
              <a:srgbClr val="BE185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39776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E18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34340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stock and request data sit in separate manual records, so hospitals cannot quickly check availability or expiry.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1: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 donors, hospitals, stock, requests and camps in one database.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2: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wastage by dispatching the oldest-expiring units first.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3: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up response: online requests, donor matching, critical alerts.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Donor, Hospital and Admin roles; 10 REST API modules.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6309360"/>
            <a:ext cx="4844034" cy="3017520"/>
          </a:xfrm>
          <a:prstGeom prst="roundRect">
            <a:avLst>
              <a:gd name="adj" fmla="val 2273"/>
            </a:avLst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640080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vs Proposed System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6766560"/>
          <a:ext cx="4569714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60220"/>
                <a:gridCol w="176022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registers and spreadsheets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MySQL 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calls to each blood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stock by blood group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by hand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Oldest-expiring units used 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Calls and paper forms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request with status tracking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 / Gap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single, current 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 platform with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3C5F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65760" y="9464040"/>
            <a:ext cx="4844034" cy="2971800"/>
          </a:xfrm>
          <a:prstGeom prst="roundRect">
            <a:avLst>
              <a:gd name="adj" fmla="val 2308"/>
            </a:avLst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95554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Study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9921240"/>
            <a:ext cx="4569714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React, Node.js/Express and MySQL are standard, well-documented tools; the full stack runs on a laptop.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open-source stack, so no licence cost.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with simple forms; the Setu assistant helps users navigate.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phases (schema, REST API, dashboards) within the semester timeline.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4114" y="2103120"/>
            <a:ext cx="4844034" cy="2286000"/>
          </a:xfrm>
          <a:prstGeom prst="roundRect">
            <a:avLst>
              <a:gd name="adj" fmla="val 3000"/>
            </a:avLst>
          </a:prstGeom>
          <a:solidFill>
            <a:srgbClr val="E0F2F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621274" y="219456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621274" y="2560320"/>
            <a:ext cx="456971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19, Vite, React Router, Recharts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4 REST APIs, JWT, bcryptjs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(InnoDB) via mysql2 connection pool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GitHub, VS Code, MySQL Workbench, Postman, nodemon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5484114" y="4526280"/>
            <a:ext cx="4844034" cy="2743200"/>
          </a:xfrm>
          <a:prstGeom prst="roundRect">
            <a:avLst>
              <a:gd name="adj" fmla="val 2500"/>
            </a:avLst>
          </a:prstGeom>
          <a:solidFill>
            <a:srgbClr val="EDE9FE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21274" y="461772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621274" y="4983480"/>
            <a:ext cx="4569714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4B5FD"/>
            </a:solidFill>
          </a:ln>
        </p:spPr>
      </p:sp>
      <p:sp>
        <p:nvSpPr>
          <p:cNvPr id="25" name="Shape 22"/>
          <p:cNvSpPr/>
          <p:nvPr/>
        </p:nvSpPr>
        <p:spPr>
          <a:xfrm>
            <a:off x="5484114" y="7406640"/>
            <a:ext cx="4844034" cy="2514600"/>
          </a:xfrm>
          <a:prstGeom prst="roundRect">
            <a:avLst>
              <a:gd name="adj" fmla="val 2727"/>
            </a:avLst>
          </a:prstGeom>
          <a:solidFill>
            <a:srgbClr val="FFEDD5"/>
          </a:solidFill>
          <a:ln w="9525">
            <a:solidFill>
              <a:srgbClr val="C2410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621274" y="749808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Database Design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5621274" y="7863840"/>
            <a:ext cx="4569714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FDBA74"/>
            </a:solidFill>
          </a:ln>
        </p:spPr>
      </p:sp>
      <p:sp>
        <p:nvSpPr>
          <p:cNvPr id="29" name="Shape 26"/>
          <p:cNvSpPr/>
          <p:nvPr/>
        </p:nvSpPr>
        <p:spPr>
          <a:xfrm>
            <a:off x="5484114" y="10058400"/>
            <a:ext cx="4844034" cy="2377440"/>
          </a:xfrm>
          <a:prstGeom prst="roundRect">
            <a:avLst>
              <a:gd name="adj" fmla="val 2885"/>
            </a:avLst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621274" y="10149840"/>
            <a:ext cx="45697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Screenshots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621274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5EEAD4"/>
            </a:solidFill>
          </a:ln>
        </p:spPr>
      </p:sp>
      <p:sp>
        <p:nvSpPr>
          <p:cNvPr id="33" name="Shape 30"/>
          <p:cNvSpPr/>
          <p:nvPr/>
        </p:nvSpPr>
        <p:spPr>
          <a:xfrm>
            <a:off x="7974711" y="10515600"/>
            <a:ext cx="221627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5EEAD4"/>
            </a:solidFill>
          </a:ln>
        </p:spPr>
      </p:sp>
      <p:sp>
        <p:nvSpPr>
          <p:cNvPr id="35" name="Shape 32"/>
          <p:cNvSpPr/>
          <p:nvPr/>
        </p:nvSpPr>
        <p:spPr>
          <a:xfrm>
            <a:off x="365760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2920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Testing</a:t>
            </a:r>
            <a:endParaRPr lang="en-US" sz="18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across donors, requests, donations, camps, alerts and cross-match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plus DB CHECK constraints; JWT role-based access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data: 126 stock units, 3 role logins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3777996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ECFCCB"/>
          </a:solidFill>
          <a:ln w="9525">
            <a:solidFill>
              <a:srgbClr val="4D7C0F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915156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7C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800" dirty="0"/>
          </a:p>
        </p:txBody>
      </p:sp>
      <p:sp>
        <p:nvSpPr>
          <p:cNvPr id="40" name="Text 37"/>
          <p:cNvSpPr txBox="1"/>
          <p:nvPr/>
        </p:nvSpPr>
        <p:spPr>
          <a:xfrm>
            <a:off x="3915156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now serves donor, hospital and admin workflows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Meets the objectives: expiry-first dispatch, auto critical alerts, forecast and reports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7190232" y="12573000"/>
            <a:ext cx="3137916" cy="1645920"/>
          </a:xfrm>
          <a:prstGeom prst="roundRect">
            <a:avLst>
              <a:gd name="adj" fmla="val 4167"/>
            </a:avLst>
          </a:prstGeom>
          <a:solidFill>
            <a:srgbClr val="FAE8FF"/>
          </a:solidFill>
          <a:ln w="9525">
            <a:solidFill>
              <a:srgbClr val="A21CA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327392" y="12664440"/>
            <a:ext cx="28635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21C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3" name="Text 40"/>
          <p:cNvSpPr txBox="1"/>
          <p:nvPr/>
        </p:nvSpPr>
        <p:spPr>
          <a:xfrm>
            <a:off x="7327392" y="13030200"/>
            <a:ext cx="28635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with SMS / email notifications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location-based blood bank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donation appointment scheduling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365760" y="14356080"/>
            <a:ext cx="76763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React Documentation, react.dev   [2] Express.js Documentation, expressjs.com   [3] MySQL 8.0 Reference Manual, dev.mysql.com   [4] RFC 7519, JSON Web Token (JWT), IETF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6" name="Text 43"/>
          <p:cNvSpPr txBox="1"/>
          <p:nvPr/>
        </p:nvSpPr>
        <p:spPr>
          <a:xfrm>
            <a:off x="9505188" y="142646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QR: GitHub</a:t>
            </a:r>
            <a:endParaRPr lang="en-US" sz="900" dirty="0"/>
          </a:p>
        </p:txBody>
      </p:sp>
      <p:pic>
        <p:nvPicPr>
          <p:cNvPr id="47" name="Picture 46" descr="logo_big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715540"/>
            <a:ext cx="1188720" cy="488861"/>
          </a:xfrm>
          <a:prstGeom prst="rect">
            <a:avLst/>
          </a:prstGeom>
        </p:spPr>
      </p:pic>
      <p:sp>
        <p:nvSpPr>
          <p:cNvPr id="48" name="Rounded Rectangle 47"/>
          <p:cNvSpPr/>
          <p:nvPr/>
        </p:nvSpPr>
        <p:spPr>
          <a:xfrm>
            <a:off x="5817298" y="5093208"/>
            <a:ext cx="1261872" cy="107899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4C1D95"/>
                </a:solidFill>
                <a:latin typeface="Calibri"/>
              </a:rPr>
              <a:t>React 19 + Vite</a:t>
            </a:r>
          </a:p>
          <a:p>
            <a:pPr algn="ctr"/>
            <a:r>
              <a:rPr sz="800" b="0">
                <a:solidFill>
                  <a:srgbClr val="1E293B"/>
                </a:solidFill>
                <a:latin typeface="Calibri"/>
              </a:rPr>
              <a:t>Login / Register
Donor, Hospital, Admin dashboards
Setu chatbot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75194" y="5093208"/>
            <a:ext cx="1261872" cy="1078992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Express API</a:t>
            </a:r>
          </a:p>
          <a:p>
            <a:pPr algn="ctr"/>
            <a:r>
              <a:rPr sz="800" b="0">
                <a:solidFill>
                  <a:srgbClr val="FFFFFF"/>
                </a:solidFill>
                <a:latin typeface="Calibri"/>
              </a:rPr>
              <a:t>JWT + role middleware
10 route modules
bcrypt, transactions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33090" y="5093208"/>
            <a:ext cx="1261872" cy="1078992"/>
          </a:xfrm>
          <a:prstGeom prst="roundRect">
            <a:avLst>
              <a:gd name="adj" fmla="val 8000"/>
            </a:avLst>
          </a:prstGeom>
          <a:solidFill>
            <a:srgbClr val="EDE9FE"/>
          </a:solidFill>
          <a:ln w="9525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1050" b="1">
                <a:solidFill>
                  <a:srgbClr val="4C1D95"/>
                </a:solidFill>
                <a:latin typeface="Calibri"/>
              </a:rPr>
              <a:t>MySQL (InnoDB)</a:t>
            </a:r>
          </a:p>
          <a:p>
            <a:pPr algn="ctr"/>
            <a:r>
              <a:rPr sz="800" b="0">
                <a:solidFill>
                  <a:srgbClr val="1E293B"/>
                </a:solidFill>
                <a:latin typeface="Calibri"/>
              </a:rPr>
              <a:t>9 tables + 1 view
FKs, CHECK, indexes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079170" y="5632704"/>
            <a:ext cx="196024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079170" y="5752704"/>
            <a:ext cx="196024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8537066" y="5632704"/>
            <a:ext cx="196024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8537066" y="5752704"/>
            <a:ext cx="196024" cy="0"/>
          </a:xfrm>
          <a:prstGeom prst="line">
            <a:avLst/>
          </a:prstGeom>
          <a:ln w="19050">
            <a:solidFill>
              <a:srgbClr val="47556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21274" y="6245352"/>
            <a:ext cx="4569714" cy="2286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475569"/>
                </a:solidFill>
                <a:latin typeface="Calibri"/>
              </a:rPr>
              <a:t>HTTP / JSON with Bearer JWT   ↔   SQL through mysql2 connection pool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712714" y="6519672"/>
            <a:ext cx="4386834" cy="41148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1">
                <a:solidFill>
                  <a:srgbClr val="4C1D95"/>
                </a:solidFill>
                <a:latin typeface="Calibri"/>
              </a:rPr>
              <a:t>/auth  /donors  /requests  /inventory  /donations  /camps  /crossmatch  /alerts  /admin  /meta</a:t>
            </a:r>
          </a:p>
        </p:txBody>
      </p:sp>
      <p:cxnSp>
        <p:nvCxnSpPr>
          <p:cNvPr id="57" name="Connector 56"/>
          <p:cNvCxnSpPr/>
          <p:nvPr/>
        </p:nvCxnSpPr>
        <p:spPr>
          <a:xfrm flipH="1">
            <a:off x="6901434" y="8225028"/>
            <a:ext cx="364617" cy="0"/>
          </a:xfrm>
          <a:prstGeom prst="line">
            <a:avLst/>
          </a:prstGeom>
          <a:ln w="15875">
            <a:solidFill>
              <a:srgbClr val="9A34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6913742" y="8035028"/>
            <a:ext cx="340000" cy="1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50" b="1">
                <a:solidFill>
                  <a:srgbClr val="9A3412"/>
                </a:solidFill>
                <a:latin typeface="Calibri"/>
              </a:rPr>
              <a:t>1:1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546211" y="8225028"/>
            <a:ext cx="364617" cy="0"/>
          </a:xfrm>
          <a:prstGeom prst="line">
            <a:avLst/>
          </a:prstGeom>
          <a:ln w="15875">
            <a:solidFill>
              <a:srgbClr val="9A34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558519" y="8035028"/>
            <a:ext cx="340000" cy="1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50" b="1">
                <a:solidFill>
                  <a:srgbClr val="9A3412"/>
                </a:solidFill>
                <a:latin typeface="Calibri"/>
              </a:rPr>
              <a:t>1:1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6261354" y="8462772"/>
            <a:ext cx="0" cy="123444"/>
          </a:xfrm>
          <a:prstGeom prst="line">
            <a:avLst/>
          </a:prstGeom>
          <a:ln w="15875">
            <a:solidFill>
              <a:srgbClr val="9A34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291354" y="8462494"/>
            <a:ext cx="420000" cy="1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00" b="1">
                <a:solidFill>
                  <a:srgbClr val="9A3412"/>
                </a:solidFill>
                <a:latin typeface="Calibri"/>
              </a:rPr>
              <a:t>1:N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550908" y="8462772"/>
            <a:ext cx="0" cy="123444"/>
          </a:xfrm>
          <a:prstGeom prst="line">
            <a:avLst/>
          </a:prstGeom>
          <a:ln w="15875">
            <a:solidFill>
              <a:srgbClr val="9A34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9580908" y="8462494"/>
            <a:ext cx="420000" cy="1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00" b="1">
                <a:solidFill>
                  <a:srgbClr val="9A3412"/>
                </a:solidFill>
                <a:latin typeface="Calibri"/>
              </a:rPr>
              <a:t>1:N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6261354" y="9061704"/>
            <a:ext cx="0" cy="123444"/>
          </a:xfrm>
          <a:prstGeom prst="line">
            <a:avLst/>
          </a:prstGeom>
          <a:ln w="15875">
            <a:solidFill>
              <a:srgbClr val="9A34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6291354" y="9061426"/>
            <a:ext cx="420000" cy="1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00" b="1">
                <a:solidFill>
                  <a:srgbClr val="9A3412"/>
                </a:solidFill>
                <a:latin typeface="Calibri"/>
              </a:rPr>
              <a:t>creates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6901434" y="9422892"/>
            <a:ext cx="364617" cy="0"/>
          </a:xfrm>
          <a:prstGeom prst="line">
            <a:avLst/>
          </a:prstGeom>
          <a:ln w="15875">
            <a:solidFill>
              <a:srgbClr val="9A341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913742" y="9232892"/>
            <a:ext cx="340000" cy="170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750" b="1">
                <a:solidFill>
                  <a:srgbClr val="9A3412"/>
                </a:solidFill>
                <a:latin typeface="Calibri"/>
              </a:rPr>
              <a:t>feeds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550908" y="9061704"/>
            <a:ext cx="0" cy="123444"/>
          </a:xfrm>
          <a:prstGeom prst="line">
            <a:avLst/>
          </a:prstGeom>
          <a:ln w="15875">
            <a:solidFill>
              <a:srgbClr val="9A341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9580908" y="9061426"/>
            <a:ext cx="420000" cy="12400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l"/>
            <a:r>
              <a:rPr sz="700" b="1">
                <a:solidFill>
                  <a:srgbClr val="9A3412"/>
                </a:solidFill>
                <a:latin typeface="Calibri"/>
              </a:rPr>
              <a:t>1:N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621274" y="7987284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donors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id, FK user_id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blood_group, lat/long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266051" y="7987284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users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email, role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910828" y="7987284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hospitals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id, FK user_id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name, lat/long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621274" y="8586216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donations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id, FK donor_id,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request_id, batch_id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66051" y="8586216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alerts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severity, is_resolved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910828" y="8586216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blood_requests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id, FK hospital_id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urgency, status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5621274" y="9185148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blood_batches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id, units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expiry_date, status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266051" y="9185148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camps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id, camp_date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status, units_collected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910828" y="9185148"/>
            <a:ext cx="1280160" cy="4754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/>
          <a:lstStyle/>
          <a:p>
            <a:pPr algn="ctr"/>
            <a:r>
              <a:rPr sz="850" b="1">
                <a:solidFill>
                  <a:srgbClr val="9A3412"/>
                </a:solidFill>
                <a:latin typeface="Calibri"/>
              </a:rPr>
              <a:t>crossmatch_records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PK id, FK donor_id,</a:t>
            </a:r>
          </a:p>
          <a:p>
            <a:pPr algn="ctr"/>
            <a:r>
              <a:rPr sz="700" b="0">
                <a:solidFill>
                  <a:srgbClr val="1E293B"/>
                </a:solidFill>
                <a:latin typeface="Calibri"/>
              </a:rPr>
              <a:t>request_id, result</a:t>
            </a:r>
          </a:p>
        </p:txBody>
      </p:sp>
      <p:pic>
        <p:nvPicPr>
          <p:cNvPr id="80" name="Picture 79" descr="shot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6994" y="10725577"/>
            <a:ext cx="2124837" cy="101565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5621274" y="11771230"/>
            <a:ext cx="2216277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0F766E"/>
                </a:solidFill>
                <a:latin typeface="Calibri"/>
              </a:rPr>
              <a:t>Landing page: live inventory preview</a:t>
            </a:r>
          </a:p>
        </p:txBody>
      </p:sp>
      <p:pic>
        <p:nvPicPr>
          <p:cNvPr id="82" name="Picture 81" descr="shot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431" y="10729297"/>
            <a:ext cx="2124837" cy="1008213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7974711" y="11767510"/>
            <a:ext cx="2216277" cy="274320"/>
          </a:xfrm>
          <a:prstGeom prst="rect">
            <a:avLst/>
          </a:prstGeom>
          <a:noFill/>
        </p:spPr>
        <p:txBody>
          <a:bodyPr wrap="square" anchor="ctr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0F766E"/>
                </a:solidFill>
                <a:latin typeface="Calibri"/>
              </a:rPr>
              <a:t>Donor portal: impact 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2026-09-28T08:11:17Z</dcterms:created>
  <dcterms:modified xsi:type="dcterms:W3CDTF">2026-09-28T08:11:17Z</dcterms:modified>
</cp:coreProperties>
</file>